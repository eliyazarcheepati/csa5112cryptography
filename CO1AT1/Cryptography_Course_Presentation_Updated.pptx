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41" y="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1005840"/>
            <a:ext cx="164592" cy="438912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384280" y="1005840"/>
            <a:ext cx="164592" cy="438912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417597" y="1554480"/>
            <a:ext cx="5417765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CRYPTOGRAPHY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2085" y="2926080"/>
            <a:ext cx="787734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DCE6F2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Security, Attacks, Goals and Evolution of Substitution Ciphers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64101" y="3743682"/>
            <a:ext cx="474142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DAA520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CSA5112 – Cryptography and Network Security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0209B1-A5E5-4265-43DE-C5D9D66F0C9F}"/>
              </a:ext>
            </a:extLst>
          </p:cNvPr>
          <p:cNvSpPr txBox="1"/>
          <p:nvPr/>
        </p:nvSpPr>
        <p:spPr>
          <a:xfrm>
            <a:off x="7979051" y="4934188"/>
            <a:ext cx="233101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DAA520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C.ELIYAZAR</a:t>
            </a:r>
          </a:p>
          <a:p>
            <a:pPr algn="ctr">
              <a:defRPr sz="1800">
                <a:solidFill>
                  <a:srgbClr val="DAA520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192311162</a:t>
            </a:r>
          </a:p>
          <a:p>
            <a:pPr algn="ctr">
              <a:defRPr sz="1800">
                <a:solidFill>
                  <a:srgbClr val="DAA520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CSE 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4044825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What is Cryptography?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5543505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A62A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science of protecting information using mathematical techniques.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2349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Cryptography converts readable information (plaintext) into an unreadable form (ciphertext).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and cryptographic keys are used to protect data from unauthorized access.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authorized receiver uses the correct key to recover the original message.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process: Plaintext → Encryption → Ciphertext → Decryption → Plaintext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include secure communication, online banking, passwords, digital signatures, VPNs and e-commerce.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8368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3954929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Goals of Cryptography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5056192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A62A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fundamental security objectives of a cryptographic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Confidentiality – Ensures that only authorized users can access information.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Integrity – Ensures that data is not altered or tampered with.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– Verifies the identity of a user, device or sender.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Availability – Ensures reliable access to services and information when required.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8368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5676682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Common Attacks in Cryptography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7317388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A62A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Attacks can be classified into passive attacks, active attacks and other cryptographic attacks.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2898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PASSIVE ATTACKS – The attacker observes information without modifying the system.</a:t>
            </a:r>
          </a:p>
          <a:p>
            <a:pPr lvl="1">
              <a:spcAft>
                <a:spcPts val="800"/>
              </a:spcAft>
              <a:defRPr sz="1300">
                <a:solidFill>
                  <a:srgbClr val="232323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Eavesdropping / Interception – Secretly listening to or capturing communication.</a:t>
            </a:r>
          </a:p>
          <a:p>
            <a:pPr lvl="1">
              <a:spcAft>
                <a:spcPts val="800"/>
              </a:spcAft>
              <a:defRPr sz="1300">
                <a:solidFill>
                  <a:srgbClr val="232323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Traffic Analysis – Studying communication patterns, timing and volume.</a:t>
            </a:r>
          </a:p>
          <a:p>
            <a:pPr>
              <a:spcAft>
                <a:spcPts val="800"/>
              </a:spcAft>
              <a:defRPr sz="1500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 ATTACKS – The attacker modifies, injects or disrupts data or system operations.</a:t>
            </a:r>
          </a:p>
          <a:p>
            <a:pPr lvl="1">
              <a:spcAft>
                <a:spcPts val="800"/>
              </a:spcAft>
              <a:defRPr sz="1300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Masquerade Attack – An attacker pretends to be an authorized user.</a:t>
            </a:r>
          </a:p>
          <a:p>
            <a:pPr lvl="1">
              <a:spcAft>
                <a:spcPts val="800"/>
              </a:spcAft>
              <a:defRPr sz="1300">
                <a:solidFill>
                  <a:srgbClr val="232323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Replay Attack – Captured valid messages are retransmitted later.</a:t>
            </a:r>
          </a:p>
          <a:p>
            <a:pPr lvl="1">
              <a:spcAft>
                <a:spcPts val="800"/>
              </a:spcAft>
              <a:defRPr sz="1300">
                <a:solidFill>
                  <a:srgbClr val="232323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Message Modification – Data is altered during transmission.</a:t>
            </a:r>
          </a:p>
          <a:p>
            <a:pPr lvl="1">
              <a:spcAft>
                <a:spcPts val="800"/>
              </a:spcAft>
              <a:defRPr sz="1300">
                <a:solidFill>
                  <a:srgbClr val="232323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Denial of Service (DoS) – Services are disrupted or made unavailable.</a:t>
            </a:r>
          </a:p>
          <a:p>
            <a:pPr>
              <a:spcAft>
                <a:spcPts val="800"/>
              </a:spcAft>
              <a:defRPr sz="1500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ATTACKS – Brute-force, cryptanalysis, Man-in-the-Middle and side-channel attacks.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8368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7642477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Techniques to Overcome Cryptographic Attacks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7032694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A62A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requires strong algorithms, secure key management and correct implementation.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290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700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strong, modern cryptographic algorithms and avoid outdated methods.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700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long, random and unpredictable keys; rotate keys when required.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700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encryption with authentication to protect confidentiality and integrity.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700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digital certificates and authenticated communication to prevent MITM attacks.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700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nonces, timestamps and sequence numbers to prevent replay attacks.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700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multi-factor authentication and strong password policies.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700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firewalls, intrusion detection and rate limiting against DoS attacks.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700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Regularly update software, patch vulnerabilities and perform security audits.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8368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9408858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From Caesar to Vigenère: Evolution of Substitution Ciphers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6774611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A62A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Substitution ciphers replace plaintext symbols with other symbols according to a rule.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4840" y="1275334"/>
            <a:ext cx="10789920" cy="5186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Caesar Cipher – Uses one fixed shift for every letter.</a:t>
            </a:r>
          </a:p>
          <a:p>
            <a:pPr lvl="1">
              <a:spcAft>
                <a:spcPts val="800"/>
              </a:spcAft>
              <a:defRPr sz="1500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With shift = 3 → HELLO becomes KHOOR.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Monoalphabetic Substitution – Each plaintext letter is replaced by a fixed ciphertext letter.</a:t>
            </a:r>
          </a:p>
          <a:p>
            <a:pPr lvl="1">
              <a:spcAft>
                <a:spcPts val="800"/>
              </a:spcAft>
              <a:defRPr sz="1500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 → Q, B → W, C → E; the same substitution is used throughout the message.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Polyalphabetic Substitution – Uses multiple substitution alphabets to reduce frequency patterns.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Vigenère Cipher uses a repeating keyword to apply different Caesar shifts.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Vigenère Example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Plaintext =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Key =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BAD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different shifts are applied to each character.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N E  T  W  O R  K   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13 4 19 22 14 17 10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B  A D  B   A   D  B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1   0  3  1    0    3  1  ;        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becomes OEWXOUL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Evolution: Fixed shift → Fixed substitution alphabet → Multiple substitution alphabets.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</a:defRPr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Vigenère cipher improves security by changing the substitution pattern throughout the message, making the frequency patterns much harder to identify than in the Caesar cipher.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</a:defRPr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Vigenère is stronger than classical Caesar and monoalphabetic ciphers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8368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6603218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From Classical to Modern Cryptography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5825634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A62A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Cryptographic techniques evolved to resist increasingly powerful attacks.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2359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Classical Cryptography: Caesar, substitution and transposition ciphers.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Symmetric-Key Cryptography: The same secret key is used for encryption and decryption.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Asymmetric-Key Cryptography: Public and private keys enable secure communication and key exchange.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 Functions: Produce fixed-length digests for integrity checking and password protection.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Signatures: Provide authentication, integrity and non-repudiation.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systems combine multiple techniques to provide layered security.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8368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2185214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6878806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A62A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Cryptography is a continuous process of improving protection against evolving threats.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2349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Cryptography protects information through confidentiality, integrity, authentication and non-repudiation.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Passive attacks observe information, while active attacks modify, inject or disrupt communication.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algorithms, secure keys, authentication and proper implementation help overcome attacks.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Substitution ciphers evolved from the simple Caesar Cipher to the more complex Vigenère Cipher.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cryptography combines multiple techniques to provide strong, layered security.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5120640"/>
            <a:ext cx="8138160" cy="731520"/>
          </a:xfrm>
          <a:prstGeom prst="roundRect">
            <a:avLst/>
          </a:prstGeom>
          <a:solidFill>
            <a:srgbClr val="12234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60057" y="5209401"/>
            <a:ext cx="272395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 </a:t>
            </a: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0" y="658368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801</Words>
  <Application>Microsoft Office PowerPoint</Application>
  <PresentationFormat>Widescreen</PresentationFormat>
  <Paragraphs>78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ELIYAZAR CHEEPATI</cp:lastModifiedBy>
  <cp:revision>2</cp:revision>
  <dcterms:created xsi:type="dcterms:W3CDTF">2013-01-27T09:14:16Z</dcterms:created>
  <dcterms:modified xsi:type="dcterms:W3CDTF">2026-07-16T14:52:42Z</dcterms:modified>
  <cp:category/>
</cp:coreProperties>
</file>